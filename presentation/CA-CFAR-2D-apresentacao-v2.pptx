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bc4f9947104404" /><Relationship Type="http://schemas.openxmlformats.org/officeDocument/2006/relationships/extended-properties" Target="/docProps/app.xml" Id="R477095eb1c184b3b" /><Relationship Type="http://schemas.openxmlformats.org/officeDocument/2006/relationships/officeDocument" Target="/ppt/presentation.xml" Id="R61a6b4d4a595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fd074af884b69"/>
  </p:sldMasterIdLst>
  <p:notesMasterIdLst>
    <p:notesMasterId xmlns:r="http://schemas.openxmlformats.org/officeDocument/2006/relationships" r:id="R88cabd1321e346f9"/>
  </p:notesMasterIdLst>
  <p:sldIdLst>
    <p:sldId xmlns:r="http://schemas.openxmlformats.org/officeDocument/2006/relationships" id="256" r:id="R24a4a7f102cb41c7"/>
    <p:sldId xmlns:r="http://schemas.openxmlformats.org/officeDocument/2006/relationships" id="257" r:id="Ra762c85ea0bb466a"/>
    <p:sldId xmlns:r="http://schemas.openxmlformats.org/officeDocument/2006/relationships" id="258" r:id="Ra1a12345eb6f49c2"/>
    <p:sldId xmlns:r="http://schemas.openxmlformats.org/officeDocument/2006/relationships" id="259" r:id="R8afb091d09624df8"/>
    <p:sldId xmlns:r="http://schemas.openxmlformats.org/officeDocument/2006/relationships" id="260" r:id="R8893dde110c746c9"/>
    <p:sldId xmlns:r="http://schemas.openxmlformats.org/officeDocument/2006/relationships" id="261" r:id="R909be69225e94a91"/>
    <p:sldId xmlns:r="http://schemas.openxmlformats.org/officeDocument/2006/relationships" id="262" r:id="Rb2ac719cad7f4e57"/>
    <p:sldId xmlns:r="http://schemas.openxmlformats.org/officeDocument/2006/relationships" id="263" r:id="R75685697efe3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7c797406b54c39" /><Relationship Type="http://schemas.openxmlformats.org/officeDocument/2006/relationships/slideMaster" Target="/ppt/slideMasters/slideMaster1.xml" Id="R176fd074af884b69" /><Relationship Type="http://schemas.openxmlformats.org/officeDocument/2006/relationships/notesMaster" Target="/ppt/notesMasters/notesMaster1.xml" Id="R88cabd1321e346f9" /><Relationship Type="http://schemas.openxmlformats.org/officeDocument/2006/relationships/presProps" Target="/ppt/presProps.xml" Id="Rfdf909d8115c45b5" /><Relationship Type="http://schemas.openxmlformats.org/officeDocument/2006/relationships/tableStyles" Target="/ppt/tableStyles.xml" Id="R44e3e0215cd5468b" /><Relationship Type="http://schemas.openxmlformats.org/officeDocument/2006/relationships/slide" Target="/ppt/slides/slide1.xml" Id="R24a4a7f102cb41c7" /><Relationship Type="http://schemas.openxmlformats.org/officeDocument/2006/relationships/slide" Target="/ppt/slides/slide2.xml" Id="Ra762c85ea0bb466a" /><Relationship Type="http://schemas.openxmlformats.org/officeDocument/2006/relationships/slide" Target="/ppt/slides/slide3.xml" Id="Ra1a12345eb6f49c2" /><Relationship Type="http://schemas.openxmlformats.org/officeDocument/2006/relationships/slide" Target="/ppt/slides/slide4.xml" Id="R8afb091d09624df8" /><Relationship Type="http://schemas.openxmlformats.org/officeDocument/2006/relationships/slide" Target="/ppt/slides/slide5.xml" Id="R8893dde110c746c9" /><Relationship Type="http://schemas.openxmlformats.org/officeDocument/2006/relationships/slide" Target="/ppt/slides/slide6.xml" Id="R909be69225e94a91" /><Relationship Type="http://schemas.openxmlformats.org/officeDocument/2006/relationships/slide" Target="/ppt/slides/slide7.xml" Id="Rb2ac719cad7f4e57" /><Relationship Type="http://schemas.openxmlformats.org/officeDocument/2006/relationships/slide" Target="/ppt/slides/slide8.xml" Id="R75685697efe3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681c0cdc4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1cf118b944d0e" /><Relationship Type="http://schemas.openxmlformats.org/officeDocument/2006/relationships/notesMaster" Target="/ppt/notesMasters/notesMaster1.xml" Id="Rcacacbd691ca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b6980b69d41ed" /><Relationship Type="http://schemas.openxmlformats.org/officeDocument/2006/relationships/notesMaster" Target="/ppt/notesMasters/notesMaster1.xml" Id="R88839f05ad9844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684d8bd7b449d" /><Relationship Type="http://schemas.openxmlformats.org/officeDocument/2006/relationships/notesMaster" Target="/ppt/notesMasters/notesMaster1.xml" Id="R88475d984060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fa83cc68c4044" /><Relationship Type="http://schemas.openxmlformats.org/officeDocument/2006/relationships/notesMaster" Target="/ppt/notesMasters/notesMaster1.xml" Id="R31f1b7f761be4c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af848123543de" /><Relationship Type="http://schemas.openxmlformats.org/officeDocument/2006/relationships/notesMaster" Target="/ppt/notesMasters/notesMaster1.xml" Id="R638cf6338dfc43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40529ea774713" /><Relationship Type="http://schemas.openxmlformats.org/officeDocument/2006/relationships/notesMaster" Target="/ppt/notesMasters/notesMaster1.xml" Id="R41e96ea403394f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e8bc5075a24011" /><Relationship Type="http://schemas.openxmlformats.org/officeDocument/2006/relationships/notesMaster" Target="/ppt/notesMasters/notesMaster1.xml" Id="R31beafb1869444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9b36b98b714e59" /><Relationship Type="http://schemas.openxmlformats.org/officeDocument/2006/relationships/notesMaster" Target="/ppt/notesMasters/notesMaster1.xml" Id="R8c3d9d629105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15 segundos.</a:t>
            </a:r>
          </a:p>
          <a:p xmlns:a="http://schemas.openxmlformats.org/drawingml/2006/main">
            <a:r>
              <a:t>Apresente o tema e diga que o objetivo foi implementar o CA-CFAR 2D em C e construir uma validação confiável usando apenas ferramentas gratuitas e reproduzíveis.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Foque no propósito: detectar alvos em mapas de potência quando o fundo varia. O gráfico usa as coordenadas reais do cenário Radar 05. Explique que cada ponto laranja representa uma célula marcada como alvo.</a:t>
            </a:r>
          </a:p>
          <a:p xmlns:a="http://schemas.openxmlformats.org/drawingml/2006/main">
            <a:r>
              <a:t>Fonte dos dados: data/radar_05_targets.txt e tests/test_scenarios.py.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Use o diagrama para explicar apenas o essencial. A janela tem 9 por 9 células. O algoritmo exclui a região central 3 por 3, calcula a média das 72 células restantes e compara a CUT com seis vezes essa média. Reforce que a comparação é estrita: valor igual ao limiar não gera detecção.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Explique que as estruturas são simples e adequadas ao contexto embarcado: uma matriz 30 por 30 de double para a potência e uma matriz 30 por 30 de int para as decisões. O fluxo começa no arquivo, passa pela função cfar_2d e termina no mapa impresso no terminal. As bordas ficam zeradas porque a janela completa não cabe nelas.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90 segundos.</a:t>
            </a:r>
          </a:p>
          <a:p xmlns:a="http://schemas.openxmlformats.org/drawingml/2006/main">
            <a:r>
              <a:t>Primeira dificuldade: acertar índices e bordas de uma janela 9 por 9. A solução foi transformar isso em contrato testável.</a:t>
            </a:r>
          </a:p>
          <a:p xmlns:a="http://schemas.openxmlformats.org/drawingml/2006/main">
            <a:r>
              <a:t>Segunda: uma implementação pode repetir o mesmo erro de outra. Por isso usei dois referenciais independentes, um transparente em NumPy e a biblioteca NRL.</a:t>
            </a:r>
          </a:p>
          <a:p xmlns:a="http://schemas.openxmlformats.org/drawingml/2006/main">
            <a:r>
              <a:t>Terceira: células vizinhas compartilham treinamento e não formam ensaios independentes. Selecionei janelas sem sobreposição antes de aplicar o intervalo binomial. O principal aprendizado foi que a credibilidade vem do desenho do teste, não só da quantidade de casos.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Explique a lógica de confiança: as mesmas entradas passam pela implementação C, pelo oráculo NumPy e pela biblioteca NRL Tracker. As detecções precisam ser iguais. O NumPy e o NRL também precisam concordar no ruído e no limiar com tolerância de 10 elevado a menos 12. Casos analíticos, cenários versionados, compilação estrita e sanitizers completam a cobertura.</a:t>
            </a:r>
          </a:p>
          <a:p xmlns:a="http://schemas.openxmlformats.org/drawingml/2006/main">
            <a:r>
              <a:t>Fonte externa: NRL Tracker Component Library, https://nedonatelli.github.io/TCL/api/signal_processing.html, versão 1.19.0, licença CC0.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A suite aprovou 26 testes no total. Os cenários 01, 02 e 05 detectaram todos os alvos nas coordenadas esperadas. O cenário 03 não gerou falsos alarmes nos dados versionados. O cenário 04 contém um alvo fraco e não gera detecção com alpha igual a 6,0. Isso registra uma limitação conhecida, não um erro do teste. Sanitizers não encontraram problemas de memória ou comportamento indefinido.</a:t>
            </a:r>
          </a:p>
          <a:p xmlns:a="http://schemas.openxmlformats.org/drawingml/2006/main">
            <a:r>
              <a:t>Fonte: docs/TESTING.md e tests/test_scenarios.py.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No ensaio de falso alarme, 5.000 matrizes forneceram 45.000 amostras independentes. O valor teórico de Pfa, 0,003141, ficou dentro do intervalo de Wilson de 99% observado. No ensaio de detecção, a probabilidade cresceu com o SNR e chegou a 1,00 a partir de 10 dB. Conclua dizendo que os resultados sustentam a correção do algoritmo no modelo testado. A validação ainda não cobre clutter não homogêneo, modelos Swerling ou desempenho em hardware embarcado.</a:t>
            </a:r>
          </a:p>
          <a:p xmlns:a="http://schemas.openxmlformats.org/drawingml/2006/main">
            <a:r>
              <a:t>Fonte: docs/TESTING.md e tests/test_statistics.py.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7fd1c1d8f46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d080db2d24859" /><Relationship Type="http://schemas.openxmlformats.org/officeDocument/2006/relationships/slideLayout" Target="/ppt/slideLayouts/slideLayout1.xml" Id="R129fb4b01373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fb4b01373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47281844345c4" /><Relationship Type="http://schemas.openxmlformats.org/officeDocument/2006/relationships/notesSlide" Target="/ppt/notesSlides/notesSlide1.xml" Id="Re09f7058dcf4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2b82742ee47e3" /><Relationship Type="http://schemas.openxmlformats.org/officeDocument/2006/relationships/chart" Target="/ppt/slides/charts/chart1.xml" Id="R5db6f11084704c3c" /><Relationship Type="http://schemas.openxmlformats.org/officeDocument/2006/relationships/notesSlide" Target="/ppt/notesSlides/notesSlide2.xml" Id="R1d316275e526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8c2151a6a4ae7" /><Relationship Type="http://schemas.openxmlformats.org/officeDocument/2006/relationships/notesSlide" Target="/ppt/notesSlides/notesSlide3.xml" Id="R6ff1dc37ebf047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3fab94c049af" /><Relationship Type="http://schemas.openxmlformats.org/officeDocument/2006/relationships/notesSlide" Target="/ppt/notesSlides/notesSlide4.xml" Id="R338ce70a9a84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6edf106047ac" /><Relationship Type="http://schemas.openxmlformats.org/officeDocument/2006/relationships/notesSlide" Target="/ppt/notesSlides/notesSlide5.xml" Id="Rb5a870aa9de8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c99ea0f7470d" /><Relationship Type="http://schemas.openxmlformats.org/officeDocument/2006/relationships/notesSlide" Target="/ppt/notesSlides/notesSlide6.xml" Id="Rcde37d5f0426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7faed9d94647" /><Relationship Type="http://schemas.openxmlformats.org/officeDocument/2006/relationships/chart" Target="/ppt/slides/charts/chart2.xml" Id="R1e24d889e14849ac" /><Relationship Type="http://schemas.openxmlformats.org/officeDocument/2006/relationships/notesSlide" Target="/ppt/notesSlides/notesSlide7.xml" Id="R53b362b6e27c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fad61c5164107" /><Relationship Type="http://schemas.openxmlformats.org/officeDocument/2006/relationships/chart" Target="/ppt/slides/charts/chart3.xml" Id="R226a3be426cc4b29" /><Relationship Type="http://schemas.openxmlformats.org/officeDocument/2006/relationships/notesSlide" Target="/ppt/notesSlides/notesSlide8.xml" Id="Rd467bf55480b4936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Alvos detectados</c:v>
          </c:tx>
          <c:spPr>
            <a:solidFill xmlns:a="http://schemas.openxmlformats.org/drawingml/2006/main">
              <a:srgbClr val="FF9B42"/>
            </a:solidFill>
            <a:ln xmlns:a="http://schemas.openxmlformats.org/drawingml/2006/main" w="19050">
              <a:solidFill>
                <a:srgbClr val="FF9B42"/>
              </a:solidFill>
            </a:ln>
          </c:spPr>
          <c:marker>
            <c:symbol val="circle"/>
            <c:size val="12"/>
            <c:spPr>
              <a:solidFill xmlns:a="http://schemas.openxmlformats.org/drawingml/2006/main">
                <a:srgbClr val="FF9B42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20</c:v>
              </c:pt>
              <c:pt idx="2">
                <c:v>15</c:v>
              </c:pt>
              <c:pt idx="3">
                <c:v>8</c:v>
              </c:pt>
              <c:pt idx="4">
                <c:v>25</c:v>
              </c:pt>
            </c:numLit>
          </c:xVal>
          <c:yVal>
            <c:numLit>
              <c:formatCode>General</c:formatCode>
              <c:ptCount val="5"/>
              <c:pt idx="0">
                <c:v>5</c:v>
              </c:pt>
              <c:pt idx="1">
                <c:v>7</c:v>
              </c:pt>
              <c:pt idx="2">
                <c:v>12</c:v>
              </c:pt>
              <c:pt idx="3">
                <c:v>18</c:v>
              </c:pt>
              <c:pt idx="4">
                <c:v>22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65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Doppler (linha)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28465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Range (coluna)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B2438"/>
        </a:solidFill>
        <a:ln xmlns:a="http://schemas.openxmlformats.org/drawingml/2006/main" w="9525">
          <a:solidFill>
            <a:srgbClr val="28465A"/>
          </a:solidFill>
        </a:ln>
      </c:spPr>
    </c:plotArea>
    <c:plotVisOnly val="1"/>
  </c:chart>
  <c:spPr>
    <a:solidFill xmlns:a="http://schemas.openxmlformats.org/drawingml/2006/main">
      <a:srgbClr val="071A2A"/>
    </a:solidFill>
    <a:ln xmlns:a="http://schemas.openxmlformats.org/drawingml/2006/main" w="9525">
      <a:solidFill>
        <a:srgbClr val="28465A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Alvos descritos</c:v>
          </c:tx>
          <c:spPr>
            <a:solidFill xmlns:a="http://schemas.openxmlformats.org/drawingml/2006/main">
              <a:srgbClr val="486476"/>
            </a:solidFill>
          </c:spPr>
          <c:cat>
            <c:strLit>
              <c:ptCount val="5"/>
              <c:pt idx="0">
                <c:v>Radar 01</c:v>
              </c:pt>
              <c:pt idx="1">
                <c:v>Radar 02</c:v>
              </c:pt>
              <c:pt idx="2">
                <c:v>Radar 03</c:v>
              </c:pt>
              <c:pt idx="3">
                <c:v>Radar 04</c:v>
              </c:pt>
              <c:pt idx="4">
                <c:v>Radar 05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3</c:v>
              </c:pt>
              <c:pt idx="2">
                <c:v>0</c:v>
              </c:pt>
              <c:pt idx="3">
                <c:v>1</c:v>
              </c:pt>
              <c:pt idx="4">
                <c:v>5</c:v>
              </c:pt>
            </c:numLit>
          </c:val>
        </c:ser>
        <c:ser>
          <c:idx val="1"/>
          <c:order val="1"/>
          <c:tx>
            <c:v>Detecções</c:v>
          </c:tx>
          <c:spPr>
            <a:solidFill xmlns:a="http://schemas.openxmlformats.org/drawingml/2006/main">
              <a:srgbClr val="FF9B42"/>
            </a:solidFill>
          </c:spPr>
          <c:cat>
            <c:strLit>
              <c:ptCount val="5"/>
              <c:pt idx="0">
                <c:v>Radar 01</c:v>
              </c:pt>
              <c:pt idx="1">
                <c:v>Radar 02</c:v>
              </c:pt>
              <c:pt idx="2">
                <c:v>Radar 03</c:v>
              </c:pt>
              <c:pt idx="3">
                <c:v>Radar 04</c:v>
              </c:pt>
              <c:pt idx="4">
                <c:v>Radar 05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3</c:v>
              </c:pt>
              <c:pt idx="2">
                <c:v>0</c:v>
              </c:pt>
              <c:pt idx="3">
                <c:v>0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7FB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65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Quantidade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B2438"/>
        </a:solidFill>
        <a:ln xmlns:a="http://schemas.openxmlformats.org/drawingml/2006/main" w="9525">
          <a:solidFill>
            <a:srgbClr val="28465A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AFC2C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A2A"/>
    </a:solidFill>
    <a:ln xmlns:a="http://schemas.openxmlformats.org/drawingml/2006/main" w="9525">
      <a:solidFill>
        <a:srgbClr val="28465A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Pd</c:v>
          </c:tx>
          <c:spPr>
            <a:solidFill xmlns:a="http://schemas.openxmlformats.org/drawingml/2006/main">
              <a:srgbClr val="FF9B42"/>
            </a:solidFill>
            <a:ln xmlns:a="http://schemas.openxmlformats.org/drawingml/2006/main" w="38100">
              <a:solidFill>
                <a:srgbClr val="FF9B42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FF9B42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</c:numLit>
          </c:cat>
          <c:val>
            <c:numLit>
              <c:formatCode>0.0%</c:formatCode>
              <c:ptCount val="5"/>
              <c:pt idx="0">
                <c:v>0.006</c:v>
              </c:pt>
              <c:pt idx="1">
                <c:v>0.063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7FB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SNR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65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Probabilidade de detecção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48647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B2438"/>
        </a:solidFill>
        <a:ln xmlns:a="http://schemas.openxmlformats.org/drawingml/2006/main" w="9525">
          <a:solidFill>
            <a:srgbClr val="28465A"/>
          </a:solidFill>
        </a:ln>
      </c:spPr>
    </c:plotArea>
    <c:plotVisOnly val="1"/>
  </c:chart>
  <c:spPr>
    <a:solidFill xmlns:a="http://schemas.openxmlformats.org/drawingml/2006/main">
      <a:srgbClr val="071A2A"/>
    </a:solidFill>
    <a:ln xmlns:a="http://schemas.openxmlformats.org/drawingml/2006/main" w="9525">
      <a:solidFill>
        <a:srgbClr val="28465A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F93A4-8BFC-40D1-9F59-F5803D76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E03D5-BD3D-4DD7-A240-867D198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CA-CFAR 2D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3CC0B-6DBB-4801-97DD-2BAC3C4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Detecção adaptativa de alvos em mapas Range-Doppler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5489A-7B3F-4C2F-AAB8-94C7332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Validação gratuita e reproduzível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BE376-0A70-4CCA-B116-A71DFE57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Matriz 30 × 30  |  72 células de treinamento  |  α = 6,0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1EA2E-6012-4E60-A963-0ECACCE7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382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BCC73-CDE2-4812-BF66-4E104205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954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10A8F-935C-4FCF-A7BB-26EB40E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95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02C68-C2E2-449D-9DFD-31BDFF78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23E2-D43D-4A95-A299-502B58B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95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8B646-6430-4512-ACAC-274B8394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CEECB-24DF-45C6-BB09-839933F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9296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71766-2755-432E-8464-8D4B9DF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Detecção adaptativa em mapas Range-Doppler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C5F5F-9526-4C7A-B3E9-BAAEA8BE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FA254-6928-4F4C-9941-BF304168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 radar produz um mapa de potência. O CA-CFAR procura células que se destacam do ruído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9AAB5-46D9-4956-91D2-305E8C2D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O limiar acompanha o nível de ruído ao redor de cada posição. Isso reduz decisões baseadas em um único valor fixo para todo o mapa.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D4C95-D92F-4831-843F-06F0A4AC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621C7-6CAB-4CA6-934E-47017341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BFF"/>
                </a:solidFill>
                <a:latin typeface="Arial"/>
                <a:ea typeface="Arial"/>
                <a:cs typeface="Arial"/>
              </a:rPr>
              <a:t>uma matriz binária com as posições detectadas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0" y="1428750"/>
          <a:ext xmlns:a="http://schemas.openxmlformats.org/drawingml/2006/main" cx="5429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b6f11084704c3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51408-CB9B-48CB-A261-58B0A8C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9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C27D"/>
                </a:solidFill>
                <a:latin typeface="Arial"/>
                <a:ea typeface="Arial"/>
                <a:cs typeface="Arial"/>
              </a:rPr>
              <a:t>Radar 05: cinco alvos detectados nas coordenadas esperadas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5EC30-EF54-458E-9C31-2B05BD4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4858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47D571D-D1F6-4277-B00D-521199A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 que o CA-CFAR faz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91A73-5C36-4D71-9062-B5354CD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D1E4-F19B-49DA-846D-CC4787E1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4CF67-C0CB-4935-A68D-2964F70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A4F36-A200-4A4B-B49F-7BA751E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3D995-7D93-47E8-BFF7-B80D7B6C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B4BBA-1036-4242-8B2B-BEB6F0D9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23AFF-1B65-41CD-8985-9BFF7BF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E29B0-A3A9-48A8-9BA3-D9F4D59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0A441-DC3C-4267-A488-29FEF91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8AD10-C1AC-456C-AF7A-7D62924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FCD8D-DBA1-477E-A7F6-8B2D540A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1D2C9-F731-4F87-815F-CAC6ADFD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69396-621F-4C2E-9B15-242A14B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E4164-4AC4-42D4-B0B8-3A058F15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4D934-04E5-4607-A9DD-623721C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40750-9FD8-42D2-8970-546EFD2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F1598-3907-4F19-9E5F-4E6D6F2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31A1C-AFED-4A9B-89AE-0B3F899D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C5D94-ECB4-4203-A600-8ABD8FFB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257CF-C999-4D00-B501-71D3AB63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75430-CAA4-4FCE-AF90-A486F4F8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D3F37-99FF-4C7F-B7A8-A757D21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ACD03-1615-4CEE-8D25-BB79654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B5200-2C4E-462B-99D5-5EE0225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AD32E-3084-43A7-AEFC-D40AD2D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39D90-DB22-4875-82FB-8FAAB427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93610-C1F5-4E22-8166-15819A1B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1410D-6AF6-4C14-8A44-10BB45E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4DE02-C797-447D-B869-9E51DCF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F4B38-C55D-4621-A740-57680F7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48282-2AA7-41E2-90C2-E3A3BA8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A3F9ED-214D-4FEA-92B9-7718ECD9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9B8F19-461B-47DF-8379-76BAE45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339D7-8E68-444E-A9C0-9969EB2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DED75-308E-48F9-9BA7-18B39498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F6D794-9447-429D-BF05-685A9C7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7547AA-9414-43E7-92E6-9D67394F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296865-7103-4C0C-8977-D242F12C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C34A9-09BA-4AE8-8A46-E66FD093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F0CD17-467B-4E92-B143-C3A5C6C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D3BA3F-AA70-4001-9F48-EDBE7DF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6BDA0-1B3F-47B7-A00C-D5A061D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38B930-DA74-4ACB-9731-FB5A675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FAF131-D42E-4F36-ACAD-4601006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26F947-3C17-4A46-AD37-7BFCC426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1EAB60-1FBE-46AD-A329-FC0B404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0DEE55-343B-4A7B-9111-ECD34416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8B72B0-B12A-41F6-A099-F9314E7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44B0FC-F36E-4407-812A-08C3990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0B9585-6F20-43CD-B302-BE5C035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C63886-A253-4C34-B957-BB7BA73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B62A37-3234-4EC2-A694-D7386BBD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D9860-126C-4FFF-A937-E6F8A206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89A33D-36FF-497D-9F06-2CF5303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51C9CE-6C8F-4699-8E7A-C8A91EA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545BC9-80FC-4BBE-9E8D-E521455B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280666-2197-4B2F-998A-1209CF7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75CFD2-D364-4D16-A35B-D33AF3B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B101B8-2008-4EA8-ADC2-FA6BC9CD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9A3284-3311-4A80-A8E7-5F7AAB7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90C4C3-E939-4443-B40A-7749681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676C74-C237-4565-BFB7-660B886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E0EC24-D758-458F-96A5-E67E6D6A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28A05E-45FA-4CA9-8949-D532F38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412F4E-8B3F-40CA-8302-2A33791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0963DF-96D6-4512-8CBE-85DF237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32CD0A-CD55-4427-8F0F-E60E469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4A1584-0FAC-4527-B20B-886780B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9F994B-F608-4C2B-B1EF-19BB27B2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A9F46A-5F7B-4253-B95C-6E49690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4A24E9-FE81-4B8E-BB5E-E823FAE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320CEE-26B1-478F-BBEC-9F09548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A17F33-9DCA-48E8-92B3-38076DD6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F425BF-A600-4B17-8C28-169CF916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FFE5AE-8313-42A0-8D02-522E1505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3483CE-557E-4C55-8F4A-377C376D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084BB1-3C66-4C0C-9242-5C862A9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55B532-D3D3-491E-BCBF-088A20C0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735D5E-3CB0-401D-9B99-2FB75AA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C4BF28-E448-4C82-A278-73A5654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7167EB-561A-48E4-AD0C-1728F00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94AA1A-FDFB-4F23-B34D-D09F085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F83"/>
          </a:solidFill>
          <a:ln xmlns:a="http://schemas.openxmlformats.org/drawingml/2006/main" w="9525">
            <a:solidFill>
              <a:srgbClr val="071A2A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CFD7A2-1D83-46FA-AE89-D3D5594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Treinamento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36FED2-5C86-4559-B7F6-7D59358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72 células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136B23-0F41-46A3-9A65-D4E99302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Guarda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2B7260-BDD7-411D-84F6-809BF57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8 células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C3BFA5-70EA-491C-87FB-66454617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19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CUT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577658-5FAB-4B9D-AD9E-7866496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05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1 célula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480EE0-1C00-4A0E-AB12-C9F0516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144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2DFB14-1410-4119-9F34-F0D5EB5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144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97BAEE-C155-4BAB-9069-20B62F88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Estima o ruído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624C72-4414-4821-8EFC-E49ABB1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média das 72 células de treinamento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5676D9-FD46-4FF6-B411-52FA8B2F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B1372C6-F546-4407-A808-CAFB3DE1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793898-22EC-4050-988D-90E3B44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Calcula o limiar local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94CB4F-989D-43EC-938A-FFABD9D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limiar = 6,0 × média do ruído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3664B5-DB44-43FB-B820-2330F3AD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957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A2B0A6-86D4-42F0-8E8F-11FF276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957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929CF4-5067-48F0-8915-0D11043A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Compara a CUT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0FD894-EAE4-4F06-B556-8164A21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detecta somente quando CUT &gt; limiar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B580AB-5CD5-4173-9C57-C7A5B01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A região central 3 × 3 não participa da estimativa de ruído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B8BC94-307F-46B3-B71A-6F9C6CD6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7882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F2178-FEF2-450F-B1C3-EAD9139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Estruturas de dados e fluxo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A3196-1BAB-4B35-84F3-F75B7375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F58C8-0704-4EF2-B412-E8CD5CF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ED2B3-1749-4272-A6C4-DBBC35B0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Arquivo de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411A5-4C43-4215-BC71-76D4C0D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860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28E15-F4CF-4799-8643-0417EF6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900 números</a:t>
            </a:r>
          </a:p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formato 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3BA33-FA0A-4D3E-82EE-DDACEFA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95575"/>
            <a:ext cx="38100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6C453-2699-429B-829E-14595FC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7F83"/>
          </a:solidFill>
          <a:ln xmlns:a="http://schemas.openxmlformats.org/drawingml/2006/main" w="19050">
            <a:solidFill>
              <a:srgbClr val="24D5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9B198-B722-4EAE-9E22-E86E5A3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Matriz de potência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4D11-FA4E-40DD-A592-29685AF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860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F775F-C8BB-4DF6-808D-279255E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1942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BFF"/>
                </a:solidFill>
                <a:latin typeface="Arial"/>
                <a:ea typeface="Arial"/>
                <a:cs typeface="Arial"/>
              </a:rPr>
              <a:t>double[30][30]</a:t>
            </a:r>
          </a:p>
          <a:p xmlns:a="http://schemas.openxmlformats.org/drawingml/2006/main">
            <a:pPr algn="ctr">
              <a:defRPr sz="142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BFF"/>
                </a:solidFill>
                <a:latin typeface="Arial"/>
                <a:ea typeface="Arial"/>
                <a:cs typeface="Arial"/>
              </a:rPr>
              <a:t>7,2 kB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AC27B-B46C-4B38-9317-F61DA0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95575"/>
            <a:ext cx="38100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DAE70-6CFE-42C0-8E5A-E68D6DA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852A9-22E7-44D1-9D84-57FCFF0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cfar_2d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32F9C-402B-4ECD-8E86-371094D2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860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83EFD-B754-4444-A7A8-BD9DE55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varre a região</a:t>
            </a:r>
          </a:p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interior 22 × 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E8EA2-AE53-42EF-B96C-D38CBF7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95575"/>
            <a:ext cx="38100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5B3CD-5D2D-42F9-86EC-48A5ED9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143A3-B00B-4961-81D9-D3B194B4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Mapa de detecção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32677-36D3-4EE8-8CBB-C769E8BD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860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16CB7-6E7C-43DB-B261-147E5AF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1942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int[30][30]</a:t>
            </a:r>
          </a:p>
          <a:p xmlns:a="http://schemas.openxmlformats.org/drawingml/2006/main">
            <a:pPr algn="ctr">
              <a:defRPr sz="14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 ou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395B4-C536-45FC-BD33-EE19A89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 implementação mantém duas matrizes fixas na memória e não aloca dados dinamicamente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69577-5248-4F36-8F0B-0207992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C27D"/>
                </a:solidFill>
                <a:latin typeface="Arial"/>
                <a:ea typeface="Arial"/>
                <a:cs typeface="Arial"/>
              </a:rPr>
              <a:t>As quatro células de borda em cada lado permanecem sem processamento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5418C-324B-4018-B566-6468C64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3181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C3D12-FEB7-401B-BEAA-F23C9FAC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Dificuldades técnicas e aprendizado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FDA99-6852-4088-B3A5-1158208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47A91-E83B-4BCE-B2FF-821757E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Dificuldade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50CA2-F267-4B49-BF28-D4482CE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52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Como contornei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2DE27-B463-44D8-A5C2-6929B8B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52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Aprendizado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50FA-F351-4233-A7EF-75F2228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62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EEB8D-7FE7-4C80-9F8F-779077B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62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E33F-B46B-464D-B0AF-2A22138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Bordas e índices da janela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C7DE9-3573-4FB0-8E65-8F84565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43125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DB0AB-836E-4F5A-9F1E-5135F73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52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Fixei a região válida em 4…25 e testei limites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F160B-1A8D-4E0E-B5AB-F2DED15D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1179C-BC14-4787-A156-A6BE92C7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 política de borda faz parte do contrato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508D0-18C6-44D6-A45E-C181CA8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6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C8E37-512F-494B-AF13-6CC9992E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75743-595A-4A49-8A82-1BA11566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BA8F0-32F0-4874-8FD8-C4F30446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Evitar validar o código com ele mesmo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E3897-D140-43EB-8EB2-4375FD76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7100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65E52-580B-442E-83A5-C8468263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766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Criei um oráculo NumPy explícito e comparei com NRL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6515D-F47A-4AF3-AB9A-8ADC70B2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E8583-01D2-469A-AA45-E7760B5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Oráculos independentes aumentam a confiança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95358-C169-4226-A754-DA60AAB4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6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29C7F-CC2F-4A22-8E61-22CF50A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1A741-0BBA-4BB2-BC90-9DD24859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4B6C1-159F-4CA5-A155-7D571438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Medir Pfa sem falsa independência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A69EF-A1D7-42C1-89A1-6AD34C2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91075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35E66-D126-45A9-8BDD-8EBC00E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005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Usei nove janelas 9 × 9 que não se sobrepõem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3081A-720C-4AC7-B6FE-B3BA157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91075"/>
            <a:ext cx="3238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12B4F-DB17-409E-AC6D-398AB021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005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O desenho do experimento importa tanto quanto o cálculo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216A1-48CA-4BFE-BCE0-C00876FB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8342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4334F-B19F-487B-A955-8AD454B7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Procedimento de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DD818-A6C8-4FDB-821A-D324042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A898D-7B65-4CB5-9D9B-B917229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Mesmas entradas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A4C84-9387-4563-990B-AB7B0E1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95500" cy="2857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C7B6C-E4F9-4E32-B73D-E4221A59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Casos analíticos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1CCF8-F593-4920-8A63-977026F8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D9389-8F22-4ECD-864E-AC9184F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20 mapas aleatórios</a:t>
            </a:r>
          </a:p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semente fixa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C71AC-7347-4F88-9A3D-490A6389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5 cenários</a:t>
            </a:r>
          </a:p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versionados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A4BC9-BEC0-403A-9702-FB21B962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EA92-A93B-4F5B-A7F5-723052B2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7F83"/>
          </a:solidFill>
          <a:ln xmlns:a="http://schemas.openxmlformats.org/drawingml/2006/main" w="19050">
            <a:solidFill>
              <a:srgbClr val="24D5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5B632-7D02-437F-8FF5-A2CD600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Implementação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3E0A3-23C9-4850-896E-E2CB379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BFF"/>
                </a:solidFill>
                <a:latin typeface="Arial"/>
                <a:ea typeface="Arial"/>
                <a:cs typeface="Arial"/>
              </a:rPr>
              <a:t>código sob teste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74F9F-AC12-4A35-8815-B266693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669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B6323-0152-47D1-A7A3-4765B7D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6E692-11D3-4DC3-B5D0-29F33432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62272-0D37-4349-9AE0-14216D95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Oráculo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B4E79-CE31-454F-A5F3-5CAC2FD4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definição explícita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60DFD-D29C-4F3D-B741-03283A62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861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84359-0F4E-4A40-9798-3CF8D71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053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918BC-89CD-4091-82C5-7E7FE494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2846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9888D-88A7-443A-AD8C-97E6AD8B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481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NRL Tracker 1.19.0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220DB-098D-4E32-ABE3-6CF9249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48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referência externa CC0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283B6-F0F1-4BDD-9DC4-F3DA21CC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05300"/>
            <a:ext cx="4000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F10B8-475E-4765-9B18-F17F984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28575">
            <a:solidFill>
              <a:srgbClr val="FF9B4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EC150-3852-459B-A208-CACC5384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Comparação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6CD0E-E2B3-4C14-A2D3-4A8CD4E8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71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detecções idênticas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839FA-B07F-408D-BD51-3EB0A609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ruído e limiar</a:t>
            </a:r>
          </a:p>
          <a:p xmlns:a="http://schemas.openxmlformats.org/drawingml/2006/main">
            <a:pPr algn="ctr">
              <a:defRPr sz="150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tolerância 10⁻¹²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E0641-F6FE-419E-84E0-03283117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Compilação estrita + ASan/UBSan + GitHub Actions repetem a sequência completa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1DC25-80F6-4783-8AAF-17DA2DC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184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E4411-D422-4EF2-BD74-95E325F4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Resultados nos cenários versionados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26443-0E21-4B65-8E9E-05FFB402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9AC98-AED8-47FD-8AB5-7AA54ED1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EBDD3-C8F7-4664-AC91-F50C65C1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testes aprovados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1E13F-5EC4-4B5D-B236-626D85D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7 C  +  17 Python  +  2 estatísticos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6E613-7E84-42B5-8F1F-7840596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A17FA-C435-43E9-9DB6-DC32D145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D19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D19C"/>
                </a:solidFill>
                <a:latin typeface="Arial"/>
                <a:ea typeface="Arial"/>
                <a:cs typeface="Arial"/>
              </a:rPr>
              <a:t>ASan e UBSan</a:t>
            </a:r>
          </a:p>
          <a:p xmlns:a="http://schemas.openxmlformats.org/drawingml/2006/main">
            <a:pPr algn="ctr">
              <a:defRPr sz="1650" b="1">
                <a:solidFill>
                  <a:srgbClr val="77D19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D19C"/>
                </a:solidFill>
                <a:latin typeface="Arial"/>
                <a:ea typeface="Arial"/>
                <a:cs typeface="Arial"/>
              </a:rPr>
              <a:t>sem diagnósticos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3562350" y="1504950"/>
          <a:ext xmlns:a="http://schemas.openxmlformats.org/drawingml/2006/main" cx="77533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24d889e14849a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BEF90-D483-4DE2-BA29-E40AFD0E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4357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C27D"/>
                </a:solidFill>
                <a:latin typeface="Arial"/>
                <a:ea typeface="Arial"/>
                <a:cs typeface="Arial"/>
              </a:rPr>
              <a:t>Radar 04: alvo de potência 3 permaneceu abaixo do limiar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FEBE5-B63C-4740-B9C1-13A0648B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7774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796DE-7025-4DEA-938A-1CBD526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Pfa e 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72A15-9131-4576-B1E6-DF4912C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6a3be426cc4b2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516AB-5109-46C4-B769-4884AD3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Pfa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8AE97-B9A8-49E0-8AD0-CCBA1F47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0,003141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F22FB-0812-46F6-B3AC-A690590E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valor teórico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99266-2501-40AA-A2B7-94C1CD73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47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56BD3-91DD-4DCA-87B8-3E6C577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B7CD9-9958-4849-AE2C-10E384F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4290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19886-7714-4EAD-B617-9AFDA11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29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F50D6-E68F-4CF3-A6ED-CBDA456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F55B8-9895-41BF-833A-69F87F37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0,002385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12CE2-BCF7-4CF2-814F-886B6DF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52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0,003717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BF828-FB06-4596-9CE5-FFB7F47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observado</a:t>
            </a:r>
          </a:p>
          <a:p xmlns:a="http://schemas.openxmlformats.org/drawingml/2006/main">
            <a:pPr algn="ctr">
              <a:defRPr sz="1275" b="1">
                <a:solidFill>
                  <a:srgbClr val="FFC2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27D"/>
                </a:solidFill>
                <a:latin typeface="Arial"/>
                <a:ea typeface="Arial"/>
                <a:cs typeface="Arial"/>
              </a:rPr>
              <a:t>0,002978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C733C-A4E6-4E83-8E48-242FCB9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195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teórico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885B5-14BB-492C-A9A8-BEE59701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D5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D5C4"/>
                </a:solidFill>
                <a:latin typeface="Arial"/>
                <a:ea typeface="Arial"/>
                <a:cs typeface="Arial"/>
              </a:rPr>
              <a:t>Intervalo de Wilson de 99%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F8523-E0D1-47F0-B5D9-C6175F9A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19050">
            <a:solidFill>
              <a:srgbClr val="117F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90C31-FA61-4BCD-851F-5C5D27F9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 Pfa teórico ficou dentro do intervalo de 99%. A Pd atingiu 1,00 a partir de 10 dB.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0448D-5B63-437B-AC43-1F71935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241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2026-10-04T19:58:04.6230000Z</dcterms:created>
  <dcterms:modified xsi:type="dcterms:W3CDTF">2026-10-04T19:58:04.6230000Z</dcterms:modified>
</coreProperties>
</file>